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61" r:id="rId4"/>
    <p:sldId id="262" r:id="rId5"/>
    <p:sldId id="263" r:id="rId6"/>
    <p:sldId id="259" r:id="rId7"/>
    <p:sldId id="264" r:id="rId8"/>
    <p:sldId id="266" r:id="rId9"/>
    <p:sldId id="267" r:id="rId10"/>
    <p:sldId id="268" r:id="rId11"/>
    <p:sldId id="269" r:id="rId12"/>
    <p:sldId id="265" r:id="rId13"/>
    <p:sldId id="272" r:id="rId14"/>
    <p:sldId id="270" r:id="rId15"/>
    <p:sldId id="271" r:id="rId16"/>
    <p:sldId id="273" r:id="rId17"/>
    <p:sldId id="274" r:id="rId18"/>
    <p:sldId id="276" r:id="rId19"/>
    <p:sldId id="275" r:id="rId20"/>
    <p:sldId id="280" r:id="rId21"/>
    <p:sldId id="277" r:id="rId22"/>
    <p:sldId id="278" r:id="rId23"/>
    <p:sldId id="279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49DAFE-2B1E-EEAB-FFA8-59E0EB54FD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698F4-0002-1FC9-5FDF-EB90101081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92D21-A880-4DAE-A88E-4F494908611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1FB95-0BC9-1E79-85FD-646DDC6C46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77D4D-3853-4F64-960C-604F5CFD02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E99CE-0F76-4D8C-AC52-0B49466DE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28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4B3CC-A2F7-48D7-98CA-F947C43B8BB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A3754-6715-47A8-9FBF-E90F428E3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5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21A758-B7A8-44BB-9E63-88C65C927E3C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3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C508-BEF9-4C4D-942E-E019948C455D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4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269-E4D2-4B78-A83D-11FDC05ADEC8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8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E039F-1CFC-4269-9AB2-AC1AEEDE0B8E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2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A207-6A7A-40EA-A2BE-A96A03A65618}" type="datetime1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5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AF643-90B6-477B-9B72-8D7FD3418ADB}" type="datetime1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85D3D-7B93-4CC7-B055-55C7CAD455C6}" type="datetime1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8E90-21A9-41F7-82B6-FF415710C4C6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7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FCB51-133A-4D34-9527-E80ABFC1B70E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0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59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072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074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5160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476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4539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D2C7F20-4666-4C57-A794-9E35717CE93E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55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431331B-90E8-4ABB-A649-591C060E72EB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4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8977F96-49DE-41B0-B96C-3B60B1FEB68A}" type="datetime1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B714D3B-5B66-4D3A-8562-AA462B8751C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12125C-A042-8A41-A98B-0C62AE1637BB}"/>
              </a:ext>
            </a:extLst>
          </p:cNvPr>
          <p:cNvSpPr/>
          <p:nvPr userDrawn="1"/>
        </p:nvSpPr>
        <p:spPr>
          <a:xfrm>
            <a:off x="10697212" y="5381423"/>
            <a:ext cx="1220639" cy="1142032"/>
          </a:xfrm>
          <a:prstGeom prst="rect">
            <a:avLst/>
          </a:prstGeom>
          <a:blipFill dpi="0"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9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D5F6-A82A-7954-A6E1-9DF34AE48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Navigation </a:t>
            </a:r>
            <a:r>
              <a:rPr lang="en-US" sz="3200" dirty="0"/>
              <a:t>(Routing)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07C35-C3BF-B59A-AD6C-284E2F83D6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TECH</a:t>
            </a:r>
            <a:r>
              <a:rPr lang="en-US" sz="2000" b="1" dirty="0">
                <a:solidFill>
                  <a:srgbClr val="0070C0"/>
                </a:solidFill>
              </a:rPr>
              <a:t>45DEGREE</a:t>
            </a:r>
          </a:p>
        </p:txBody>
      </p:sp>
    </p:spTree>
    <p:extLst>
      <p:ext uri="{BB962C8B-B14F-4D97-AF65-F5344CB8AC3E}">
        <p14:creationId xmlns:p14="http://schemas.microsoft.com/office/powerpoint/2010/main" val="2710378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42B5-BCE6-13E9-0B5F-3CDE9BDC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Vaadin</a:t>
            </a:r>
            <a:r>
              <a:rPr lang="en-US" dirty="0"/>
              <a:t>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E7DE-80D3-D161-EA43-0DA61FBA8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err="1"/>
              <a:t>Vaadin</a:t>
            </a:r>
            <a:r>
              <a:rPr lang="en-GB" dirty="0"/>
              <a:t> Navigation is a key part of the </a:t>
            </a:r>
            <a:r>
              <a:rPr lang="en-GB" dirty="0" err="1"/>
              <a:t>Vaadin</a:t>
            </a:r>
            <a:r>
              <a:rPr lang="en-GB" dirty="0"/>
              <a:t> framework, responsible for controlling how users move between </a:t>
            </a:r>
            <a:r>
              <a:rPr lang="en-GB" dirty="0">
                <a:solidFill>
                  <a:srgbClr val="0070C0"/>
                </a:solidFill>
              </a:rPr>
              <a:t>views</a:t>
            </a:r>
            <a:r>
              <a:rPr lang="en-GB" dirty="0"/>
              <a:t> (</a:t>
            </a:r>
            <a:r>
              <a:rPr lang="en-GB" dirty="0">
                <a:solidFill>
                  <a:srgbClr val="00B050"/>
                </a:solidFill>
              </a:rPr>
              <a:t>pages or components</a:t>
            </a:r>
            <a:r>
              <a:rPr lang="en-GB" dirty="0"/>
              <a:t>) within a </a:t>
            </a:r>
            <a:r>
              <a:rPr lang="en-GB" dirty="0" err="1"/>
              <a:t>Vaadin</a:t>
            </a:r>
            <a:r>
              <a:rPr lang="en-GB" dirty="0"/>
              <a:t> application. </a:t>
            </a:r>
          </a:p>
          <a:p>
            <a:pPr>
              <a:lnSpc>
                <a:spcPct val="150000"/>
              </a:lnSpc>
            </a:pPr>
            <a:r>
              <a:rPr lang="en-GB" dirty="0"/>
              <a:t>In </a:t>
            </a:r>
            <a:r>
              <a:rPr lang="en-GB" dirty="0" err="1"/>
              <a:t>Vaadin</a:t>
            </a:r>
            <a:r>
              <a:rPr lang="en-GB" dirty="0"/>
              <a:t>, navigation is usually URL-based and allows users to access different views directly by URL, making it helpful for both single-page applications (SPA) and multi-page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10628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7466-2787-6E09-EE07-30CE1E3A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and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2CB15-8B1F-990D-C7BA-AD724606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Routes: </a:t>
            </a:r>
            <a:r>
              <a:rPr lang="en-GB" dirty="0" err="1"/>
              <a:t>Vaadin</a:t>
            </a:r>
            <a:r>
              <a:rPr lang="en-GB" dirty="0"/>
              <a:t> maps URLs to specific views through routes. You can define routes by annotating views with </a:t>
            </a:r>
            <a:r>
              <a:rPr lang="en-GB" b="1" dirty="0">
                <a:solidFill>
                  <a:srgbClr val="00B050"/>
                </a:solidFill>
              </a:rPr>
              <a:t>@Route</a:t>
            </a:r>
            <a:r>
              <a:rPr lang="en-GB" dirty="0"/>
              <a:t>, specifying the URL path.</a:t>
            </a:r>
          </a:p>
          <a:p>
            <a:r>
              <a:rPr lang="en-GB" dirty="0"/>
              <a:t> </a:t>
            </a:r>
            <a:r>
              <a:rPr lang="en-GB" b="1" dirty="0"/>
              <a:t>Views: </a:t>
            </a:r>
            <a:r>
              <a:rPr lang="en-GB" dirty="0"/>
              <a:t>Each view is typically a Java class that extends </a:t>
            </a:r>
            <a:r>
              <a:rPr lang="en-GB" dirty="0">
                <a:solidFill>
                  <a:srgbClr val="00B050"/>
                </a:solidFill>
              </a:rPr>
              <a:t>Component or Composite</a:t>
            </a:r>
            <a:r>
              <a:rPr lang="en-GB" dirty="0"/>
              <a:t>, representing a </a:t>
            </a:r>
            <a:r>
              <a:rPr lang="en-GB" dirty="0">
                <a:solidFill>
                  <a:srgbClr val="00B050"/>
                </a:solidFill>
              </a:rPr>
              <a:t>single page </a:t>
            </a:r>
            <a:r>
              <a:rPr lang="en-GB" dirty="0"/>
              <a:t>or UI section within the app.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81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77B2-E074-19E9-0627-D80C9BE4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AAFC-E692-328E-3FD0-14A894338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Via Links</a:t>
            </a:r>
          </a:p>
        </p:txBody>
      </p:sp>
    </p:spTree>
    <p:extLst>
      <p:ext uri="{BB962C8B-B14F-4D97-AF65-F5344CB8AC3E}">
        <p14:creationId xmlns:p14="http://schemas.microsoft.com/office/powerpoint/2010/main" val="373653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6563-52DC-7D84-392B-92E3A34CD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Side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7E85-2D7F-18CD-AAF0-3133C312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 Side Navigation</a:t>
            </a:r>
          </a:p>
          <a:p>
            <a:pPr lvl="1"/>
            <a:r>
              <a:rPr lang="en-US" dirty="0"/>
              <a:t>Server side navigation can be done by using </a:t>
            </a:r>
            <a:r>
              <a:rPr lang="en-GB" dirty="0"/>
              <a:t>code such as </a:t>
            </a:r>
            <a:r>
              <a:rPr lang="en-GB" b="1" dirty="0" err="1">
                <a:solidFill>
                  <a:srgbClr val="0070C0"/>
                </a:solidFill>
              </a:rPr>
              <a:t>UI.navigate</a:t>
            </a:r>
            <a:r>
              <a:rPr lang="en-GB" b="1" dirty="0">
                <a:solidFill>
                  <a:srgbClr val="0070C0"/>
                </a:solidFill>
              </a:rPr>
              <a:t>() </a:t>
            </a:r>
            <a:r>
              <a:rPr lang="en-GB" dirty="0"/>
              <a:t>methods.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62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FC8E-BE1C-F08B-4DBF-C166AD64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3C92F-BD11-610A-0D7B-64AB4B7B9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995810" cy="3788064"/>
          </a:xfrm>
        </p:spPr>
        <p:txBody>
          <a:bodyPr>
            <a:noAutofit/>
          </a:bodyPr>
          <a:lstStyle/>
          <a:p>
            <a:r>
              <a:rPr lang="en-US" dirty="0"/>
              <a:t>Router Links</a:t>
            </a:r>
          </a:p>
          <a:p>
            <a:pPr lvl="1"/>
            <a:r>
              <a:rPr lang="en-US" dirty="0"/>
              <a:t>Router Link is a component with &lt;a&gt; tag used for navigation. The page is updated in place without full page reload, and it update the URL of the page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940527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99D9-DFF0-0E83-8F3C-6B0FDE1D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Links (Anchor)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819B-1C5E-73C6-2EFB-793468E90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Links (Anchor)</a:t>
            </a:r>
          </a:p>
          <a:p>
            <a:pPr lvl="1"/>
            <a:r>
              <a:rPr lang="en-GB" dirty="0"/>
              <a:t>In </a:t>
            </a:r>
            <a:r>
              <a:rPr lang="en-GB" dirty="0" err="1"/>
              <a:t>Vaadin</a:t>
            </a:r>
            <a:r>
              <a:rPr lang="en-GB" dirty="0"/>
              <a:t>, "standard links" generally refer to traditional HTML anchor (&lt;a </a:t>
            </a:r>
            <a:r>
              <a:rPr lang="en-GB" dirty="0" err="1"/>
              <a:t>href</a:t>
            </a:r>
            <a:r>
              <a:rPr lang="en-GB" dirty="0"/>
              <a:t>=“/</a:t>
            </a:r>
            <a:r>
              <a:rPr lang="en-GB" dirty="0" err="1"/>
              <a:t>aboutUs</a:t>
            </a:r>
            <a:r>
              <a:rPr lang="en-GB" dirty="0"/>
              <a:t>”&gt;) elements rather than </a:t>
            </a:r>
            <a:r>
              <a:rPr lang="en-GB" dirty="0" err="1"/>
              <a:t>Vaadin's</a:t>
            </a:r>
            <a:r>
              <a:rPr lang="en-GB" dirty="0"/>
              <a:t> </a:t>
            </a:r>
            <a:r>
              <a:rPr lang="en-GB" dirty="0" err="1"/>
              <a:t>RouterLink</a:t>
            </a:r>
            <a:r>
              <a:rPr lang="en-GB" dirty="0"/>
              <a:t>. These links are used for navigating to any path.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5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D6CB-9F51-6D64-D86A-1C0D0B87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FEFE0-595D-F6B9-E77B-717B141B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Vaadin</a:t>
            </a:r>
            <a:r>
              <a:rPr lang="en-GB" dirty="0"/>
              <a:t>, the navigation lifecycle is the process by which a user moves between views or pages in a </a:t>
            </a:r>
            <a:r>
              <a:rPr lang="en-GB" dirty="0" err="1"/>
              <a:t>Vaadin</a:t>
            </a:r>
            <a:r>
              <a:rPr lang="en-GB" dirty="0"/>
              <a:t> application. </a:t>
            </a:r>
            <a:r>
              <a:rPr lang="en-GB" dirty="0" err="1"/>
              <a:t>Vaadin's</a:t>
            </a:r>
            <a:r>
              <a:rPr lang="en-GB" dirty="0"/>
              <a:t> router controls this navigation by determining which component to display based on the URL path. In </a:t>
            </a:r>
            <a:r>
              <a:rPr lang="en-GB" dirty="0" err="1"/>
              <a:t>Vaadin</a:t>
            </a:r>
            <a:r>
              <a:rPr lang="en-GB" dirty="0"/>
              <a:t> we have different navigation life cycles.</a:t>
            </a:r>
          </a:p>
          <a:p>
            <a:r>
              <a:rPr lang="en-US" b="1" dirty="0" err="1"/>
              <a:t>BeforeLeaveEvent</a:t>
            </a:r>
            <a:endParaRPr lang="en-US" b="1" dirty="0"/>
          </a:p>
          <a:p>
            <a:r>
              <a:rPr lang="en-US" b="1" dirty="0" err="1"/>
              <a:t>BeforeEnterEvent</a:t>
            </a:r>
            <a:endParaRPr lang="en-US" b="1" dirty="0"/>
          </a:p>
          <a:p>
            <a:r>
              <a:rPr lang="en-US" b="1" dirty="0" err="1"/>
              <a:t>AfterNavigationEvent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8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9942-6C4F-6B2D-D68A-2FA64D92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Leave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E8A0-5096-3BB8-F482-C57838278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solidFill>
                  <a:srgbClr val="0070C0"/>
                </a:solidFill>
              </a:rPr>
              <a:t>BeforeLeaveEvent</a:t>
            </a:r>
            <a:r>
              <a:rPr lang="en-GB" dirty="0"/>
              <a:t> is first event in navigation life cycle.</a:t>
            </a:r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0070C0"/>
                </a:solidFill>
              </a:rPr>
              <a:t>BeforeLeaveEvent</a:t>
            </a:r>
            <a:r>
              <a:rPr lang="en-GB" dirty="0"/>
              <a:t> in </a:t>
            </a:r>
            <a:r>
              <a:rPr lang="en-GB" dirty="0" err="1"/>
              <a:t>Vaadin</a:t>
            </a:r>
            <a:r>
              <a:rPr lang="en-GB" dirty="0"/>
              <a:t> is a navigation lifecycle event triggered right before a user leaves a view. This event provides an opportunity to control or validate the navigation process, such as confirming unsaved changes or performing any cleanup operations before the user exits the current view.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5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8B76B-426D-73DB-7CD0-A2B4C077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D1EB-CB4E-1F4E-8324-CBA7E331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Enter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0A74-5FF2-2372-4FB9-E81AF6E0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solidFill>
                  <a:srgbClr val="0070C0"/>
                </a:solidFill>
              </a:rPr>
              <a:t>BeforeEnterEvent</a:t>
            </a:r>
            <a:r>
              <a:rPr lang="en-GB" dirty="0"/>
              <a:t> is second event in navigation life cycle.</a:t>
            </a:r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0070C0"/>
                </a:solidFill>
              </a:rPr>
              <a:t>BeforeEnterEvent</a:t>
            </a:r>
            <a:r>
              <a:rPr lang="en-GB" dirty="0"/>
              <a:t> in </a:t>
            </a:r>
            <a:r>
              <a:rPr lang="en-GB" dirty="0" err="1"/>
              <a:t>Vaadin</a:t>
            </a:r>
            <a:r>
              <a:rPr lang="en-GB" dirty="0"/>
              <a:t> is triggered right before a user navigates to a view, allowing you to manage access, validate, or prepare data before the view is displayed.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4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DE03-E384-E0C3-1CA7-9E1BC410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E135-79AD-9D7D-B402-6C63614C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Navigation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F0404-B806-73B0-6F4C-114FD0BD3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solidFill>
                  <a:srgbClr val="0070C0"/>
                </a:solidFill>
              </a:rPr>
              <a:t>AfterNavigationEvent</a:t>
            </a:r>
            <a:r>
              <a:rPr lang="en-GB" dirty="0"/>
              <a:t> is third event in navigation life cycle.</a:t>
            </a:r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0070C0"/>
                </a:solidFill>
              </a:rPr>
              <a:t>AfterNavigationEvent</a:t>
            </a:r>
            <a:r>
              <a:rPr lang="en-GB" dirty="0"/>
              <a:t> in </a:t>
            </a:r>
            <a:r>
              <a:rPr lang="en-GB" dirty="0" err="1"/>
              <a:t>Vaadin</a:t>
            </a:r>
            <a:r>
              <a:rPr lang="en-GB" dirty="0"/>
              <a:t> is a navigation lifecycle event triggered immediately after a user has successfully navigated to a new view. This event allows you to perform actions after the view is fully loaded and visible, such as updating UI elements, setting focus, or logging navigation events.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5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D654-922D-F98D-325C-BDE17017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4562C-B0E9-4479-1D5D-3B5BDB38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Vaadin</a:t>
            </a:r>
            <a:r>
              <a:rPr lang="en-US" dirty="0"/>
              <a:t>, user can pass data through routing in different ways.</a:t>
            </a:r>
          </a:p>
          <a:p>
            <a:pPr lvl="1"/>
            <a:r>
              <a:rPr lang="en-US" b="1" dirty="0"/>
              <a:t>Route Param </a:t>
            </a:r>
          </a:p>
          <a:p>
            <a:pPr lvl="1"/>
            <a:r>
              <a:rPr lang="en-US" b="1" dirty="0"/>
              <a:t>Query Param</a:t>
            </a:r>
          </a:p>
          <a:p>
            <a:pPr lvl="1"/>
            <a:r>
              <a:rPr lang="en-US" b="1" dirty="0"/>
              <a:t>Route Templates</a:t>
            </a:r>
          </a:p>
        </p:txBody>
      </p:sp>
    </p:spTree>
    <p:extLst>
      <p:ext uri="{BB962C8B-B14F-4D97-AF65-F5344CB8AC3E}">
        <p14:creationId xmlns:p14="http://schemas.microsoft.com/office/powerpoint/2010/main" val="373437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AFF1-A6A2-FA31-EE6F-E3266291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72D3-4042-77B1-0939-868B98DF2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Vaadin</a:t>
            </a:r>
            <a:r>
              <a:rPr lang="en-GB" dirty="0"/>
              <a:t>, you can use routing parameters to pass values within URLs, allowing you to navigate between views with context-specific data. </a:t>
            </a:r>
            <a:r>
              <a:rPr lang="en-GB" dirty="0" err="1"/>
              <a:t>Vaadin</a:t>
            </a:r>
            <a:r>
              <a:rPr lang="en-GB" dirty="0"/>
              <a:t> Flow, the Java framework for building </a:t>
            </a:r>
            <a:r>
              <a:rPr lang="en-GB" dirty="0" err="1"/>
              <a:t>Vaadin</a:t>
            </a:r>
            <a:r>
              <a:rPr lang="en-GB" dirty="0"/>
              <a:t> applications, provides a way to define these parameters directly in the route.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A8750-C309-02C1-D291-9A85A4F5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15" y="3839632"/>
            <a:ext cx="6972300" cy="1362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D4752-F341-34EF-DA42-489D41EBE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815" y="3839632"/>
            <a:ext cx="69913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6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6E72-8749-2C5A-D817-44F48A25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B5FE6-5676-E24A-661F-562980917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Optional parameters are single parameters in a URL that may or may not be present. They are commonly used when you want to add flexibility by allowing users to omit certain segments in the URL path.</a:t>
            </a:r>
          </a:p>
          <a:p>
            <a:r>
              <a:rPr lang="en-GB" b="1" dirty="0"/>
              <a:t>Usage: </a:t>
            </a:r>
            <a:r>
              <a:rPr lang="en-GB" dirty="0"/>
              <a:t>Define an optional parameter by using the </a:t>
            </a:r>
            <a:r>
              <a:rPr lang="en-GB" b="1" dirty="0">
                <a:solidFill>
                  <a:srgbClr val="0070C0"/>
                </a:solidFill>
              </a:rPr>
              <a:t>@OptionalParameter </a:t>
            </a:r>
            <a:r>
              <a:rPr lang="en-GB" dirty="0"/>
              <a:t>annotation in the </a:t>
            </a:r>
            <a:r>
              <a:rPr lang="en-GB" dirty="0" err="1"/>
              <a:t>setParameter</a:t>
            </a:r>
            <a:r>
              <a:rPr lang="en-GB" dirty="0"/>
              <a:t> method of a class that implements </a:t>
            </a:r>
            <a:r>
              <a:rPr lang="en-GB" dirty="0" err="1"/>
              <a:t>HasUrlParameter</a:t>
            </a:r>
            <a:r>
              <a:rPr lang="en-GB" b="1" dirty="0"/>
              <a:t>. </a:t>
            </a:r>
          </a:p>
          <a:p>
            <a:r>
              <a:rPr lang="en-GB" b="1" dirty="0" err="1"/>
              <a:t>Behavior</a:t>
            </a:r>
            <a:r>
              <a:rPr lang="en-GB" b="1" dirty="0"/>
              <a:t>: </a:t>
            </a:r>
            <a:r>
              <a:rPr lang="en-GB" dirty="0"/>
              <a:t>If the optional parameter is missing from the URL, </a:t>
            </a:r>
            <a:r>
              <a:rPr lang="en-GB" dirty="0" err="1"/>
              <a:t>Vaadin</a:t>
            </a:r>
            <a:r>
              <a:rPr lang="en-GB" dirty="0"/>
              <a:t> will still route to the view but will pass a null value or an empty parameter.</a:t>
            </a:r>
          </a:p>
          <a:p>
            <a:r>
              <a:rPr lang="en-GB" b="1" dirty="0"/>
              <a:t>URL Examples: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   /product/123 — Passes 123 as </a:t>
            </a:r>
            <a:r>
              <a:rPr lang="en-GB" b="1" dirty="0" err="1">
                <a:solidFill>
                  <a:schemeClr val="bg1"/>
                </a:solidFill>
                <a:highlight>
                  <a:srgbClr val="800080"/>
                </a:highlight>
              </a:rPr>
              <a:t>productId</a:t>
            </a:r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.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   /product — No </a:t>
            </a:r>
            <a:r>
              <a:rPr lang="en-GB" b="1" dirty="0" err="1">
                <a:solidFill>
                  <a:schemeClr val="bg1"/>
                </a:solidFill>
                <a:highlight>
                  <a:srgbClr val="800080"/>
                </a:highlight>
              </a:rPr>
              <a:t>productId</a:t>
            </a:r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is provided, and it’s handled as null.</a:t>
            </a:r>
            <a:endParaRPr lang="en-US" b="1" dirty="0">
              <a:solidFill>
                <a:schemeClr val="bg1"/>
              </a:solidFill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080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0E14-C48F-D745-D2B1-EE1859D5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 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8E570-3BFB-7C6C-4C2D-A7B9B67D9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Wildcard parameters are used to capture multiple path segments after a specific route. They are useful for handling flexible or unknown URL depths, where you might not know how many segments are coming after the base route. </a:t>
            </a:r>
          </a:p>
          <a:p>
            <a:r>
              <a:rPr lang="en-GB" b="1" dirty="0"/>
              <a:t>Usage: </a:t>
            </a:r>
            <a:r>
              <a:rPr lang="en-GB" dirty="0"/>
              <a:t>Implemented by using </a:t>
            </a:r>
            <a:r>
              <a:rPr lang="en-GB" dirty="0" err="1"/>
              <a:t>HasUrlParameter</a:t>
            </a:r>
            <a:r>
              <a:rPr lang="en-GB" dirty="0"/>
              <a:t>&lt;String&gt;, which captures all segments after the base path.</a:t>
            </a:r>
          </a:p>
          <a:p>
            <a:r>
              <a:rPr lang="en-GB" b="1" dirty="0" err="1"/>
              <a:t>Behavior</a:t>
            </a:r>
            <a:r>
              <a:rPr lang="en-GB" b="1" dirty="0"/>
              <a:t>: </a:t>
            </a:r>
            <a:r>
              <a:rPr lang="en-GB" dirty="0"/>
              <a:t>Wildcard parameters allow any number of additional path segments, capturing them in a list so they can be processed dynamically.</a:t>
            </a:r>
          </a:p>
          <a:p>
            <a:r>
              <a:rPr lang="en-GB" b="1" dirty="0"/>
              <a:t>URL Examples: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   /files/documents/reports/2024 — </a:t>
            </a:r>
            <a:r>
              <a:rPr lang="en-GB" b="1" dirty="0" err="1">
                <a:solidFill>
                  <a:schemeClr val="bg1"/>
                </a:solidFill>
                <a:highlight>
                  <a:srgbClr val="800080"/>
                </a:highlight>
              </a:rPr>
              <a:t>pathSegments</a:t>
            </a:r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will contain ["documents", "reports", "2024"].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   /files/reports — </a:t>
            </a:r>
            <a:r>
              <a:rPr lang="en-GB" b="1" dirty="0" err="1">
                <a:solidFill>
                  <a:schemeClr val="bg1"/>
                </a:solidFill>
                <a:highlight>
                  <a:srgbClr val="800080"/>
                </a:highlight>
              </a:rPr>
              <a:t>pathSegments</a:t>
            </a:r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will contain ["reports"].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   /files — </a:t>
            </a:r>
            <a:r>
              <a:rPr lang="en-GB" b="1" dirty="0" err="1">
                <a:solidFill>
                  <a:schemeClr val="bg1"/>
                </a:solidFill>
                <a:highlight>
                  <a:srgbClr val="800080"/>
                </a:highlight>
              </a:rPr>
              <a:t>pathSegments</a:t>
            </a:r>
            <a:r>
              <a:rPr lang="en-GB" b="1" dirty="0">
                <a:solidFill>
                  <a:schemeClr val="bg1"/>
                </a:solidFill>
                <a:highlight>
                  <a:srgbClr val="800080"/>
                </a:highlight>
              </a:rPr>
              <a:t> will be empty.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32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528F-B02E-C2C9-BFFE-122846BF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1C1A-4DD2-ABF3-E192-26F8EBF95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Query parameters are key-value pairs appended to the end of a URL after a </a:t>
            </a:r>
            <a:r>
              <a:rPr lang="en-GB" b="1" dirty="0"/>
              <a:t>?</a:t>
            </a:r>
            <a:r>
              <a:rPr lang="en-GB" dirty="0"/>
              <a:t> symbol. They are used to pass data to the server or application without changing the primary URL path. In </a:t>
            </a:r>
            <a:r>
              <a:rPr lang="en-GB" dirty="0" err="1"/>
              <a:t>Vaadin</a:t>
            </a:r>
            <a:r>
              <a:rPr lang="en-GB" dirty="0"/>
              <a:t>, query parameters are commonly used to filter, sort, or provide additional context to the view or component that’s being loaded.</a:t>
            </a:r>
          </a:p>
          <a:p>
            <a:r>
              <a:rPr lang="en-GB" b="1" dirty="0"/>
              <a:t>Structure of Query Parameters</a:t>
            </a:r>
          </a:p>
          <a:p>
            <a:pPr lvl="1"/>
            <a:r>
              <a:rPr lang="en-US" b="1" dirty="0"/>
              <a:t>http://example.com/</a:t>
            </a:r>
            <a:r>
              <a:rPr lang="en-US" b="1" dirty="0">
                <a:solidFill>
                  <a:srgbClr val="FF0000"/>
                </a:solidFill>
              </a:rPr>
              <a:t>view</a:t>
            </a:r>
            <a:r>
              <a:rPr lang="en-US" b="1" dirty="0"/>
              <a:t>?</a:t>
            </a:r>
            <a:r>
              <a:rPr lang="en-US" b="1" dirty="0">
                <a:solidFill>
                  <a:srgbClr val="00B050"/>
                </a:solidFill>
              </a:rPr>
              <a:t>param1</a:t>
            </a:r>
            <a:r>
              <a:rPr lang="en-US" b="1" dirty="0"/>
              <a:t>=</a:t>
            </a:r>
            <a:r>
              <a:rPr lang="en-US" b="1" dirty="0">
                <a:solidFill>
                  <a:srgbClr val="0070C0"/>
                </a:solidFill>
              </a:rPr>
              <a:t>value1</a:t>
            </a:r>
            <a:r>
              <a:rPr lang="en-US" b="1" dirty="0"/>
              <a:t>&amp;</a:t>
            </a:r>
            <a:r>
              <a:rPr lang="en-US" b="1" dirty="0">
                <a:solidFill>
                  <a:srgbClr val="00B050"/>
                </a:solidFill>
              </a:rPr>
              <a:t>param2</a:t>
            </a:r>
            <a:r>
              <a:rPr lang="en-US" b="1" dirty="0"/>
              <a:t>=</a:t>
            </a:r>
            <a:r>
              <a:rPr lang="en-US" b="1" dirty="0">
                <a:solidFill>
                  <a:srgbClr val="0070C0"/>
                </a:solidFill>
              </a:rPr>
              <a:t>value2</a:t>
            </a:r>
          </a:p>
        </p:txBody>
      </p:sp>
    </p:spTree>
    <p:extLst>
      <p:ext uri="{BB962C8B-B14F-4D97-AF65-F5344CB8AC3E}">
        <p14:creationId xmlns:p14="http://schemas.microsoft.com/office/powerpoint/2010/main" val="51820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32CC-D2FF-C7DB-5822-C24CB7F2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Query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50964-50AB-76FB-DA26-FF75D768E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Filtering or Sorting Data: E.g., /</a:t>
            </a:r>
            <a:r>
              <a:rPr lang="en-GB" dirty="0" err="1"/>
              <a:t>products</a:t>
            </a:r>
            <a:r>
              <a:rPr lang="en-GB" b="1" dirty="0" err="1"/>
              <a:t>?</a:t>
            </a:r>
            <a:r>
              <a:rPr lang="en-GB" dirty="0" err="1"/>
              <a:t>sort</a:t>
            </a:r>
            <a:r>
              <a:rPr lang="en-GB" dirty="0"/>
              <a:t>=</a:t>
            </a:r>
            <a:r>
              <a:rPr lang="en-GB" dirty="0" err="1"/>
              <a:t>price&amp;category</a:t>
            </a:r>
            <a:r>
              <a:rPr lang="en-GB" dirty="0"/>
              <a:t>=electronics.</a:t>
            </a:r>
          </a:p>
          <a:p>
            <a:r>
              <a:rPr lang="en-GB" dirty="0"/>
              <a:t>Pagination: E.g., /</a:t>
            </a:r>
            <a:r>
              <a:rPr lang="en-GB" dirty="0" err="1"/>
              <a:t>articles</a:t>
            </a:r>
            <a:r>
              <a:rPr lang="en-GB" b="1" dirty="0" err="1"/>
              <a:t>?</a:t>
            </a:r>
            <a:r>
              <a:rPr lang="en-GB" dirty="0" err="1"/>
              <a:t>page</a:t>
            </a:r>
            <a:r>
              <a:rPr lang="en-GB" dirty="0"/>
              <a:t>=2&amp;size=20.</a:t>
            </a:r>
          </a:p>
          <a:p>
            <a:r>
              <a:rPr lang="en-GB" dirty="0"/>
              <a:t>Searching: E.g., /</a:t>
            </a:r>
            <a:r>
              <a:rPr lang="en-GB" dirty="0" err="1"/>
              <a:t>search</a:t>
            </a:r>
            <a:r>
              <a:rPr lang="en-GB" b="1" dirty="0" err="1"/>
              <a:t>?</a:t>
            </a:r>
            <a:r>
              <a:rPr lang="en-GB" dirty="0" err="1"/>
              <a:t>query</a:t>
            </a:r>
            <a:r>
              <a:rPr lang="en-GB" dirty="0"/>
              <a:t>=</a:t>
            </a:r>
            <a:r>
              <a:rPr lang="en-GB" dirty="0" err="1"/>
              <a:t>vaadin</a:t>
            </a:r>
            <a:r>
              <a:rPr lang="en-GB" dirty="0"/>
              <a:t>. </a:t>
            </a:r>
          </a:p>
          <a:p>
            <a:r>
              <a:rPr lang="en-GB" dirty="0"/>
              <a:t>Passing Additional Information: When additional context is needed without changing the route itself.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3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8D2A-E3C5-CB97-425F-46F7A038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D1CA7-0567-B082-FAF0-1510BC26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Vaadin</a:t>
            </a:r>
            <a:r>
              <a:rPr lang="en-GB" dirty="0"/>
              <a:t>, Route Templates allow you to create flexible routes by using parameters and placeholders within the URL paths. They provide a way to define routes that can accept variable parts, enabling dynamic navigation within your </a:t>
            </a:r>
            <a:r>
              <a:rPr lang="en-GB" dirty="0" err="1"/>
              <a:t>Vaadin</a:t>
            </a:r>
            <a:r>
              <a:rPr lang="en-GB" dirty="0"/>
              <a:t>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63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E321-4DA5-3AED-4519-82C5C4AF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Route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6879-29C4-33A2-E7FA-7CA3BA060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Route template parameters must use the following syntax.</a:t>
            </a:r>
          </a:p>
          <a:p>
            <a:pPr lvl="1"/>
            <a:r>
              <a:rPr lang="en-GB" i="1" dirty="0">
                <a:solidFill>
                  <a:schemeClr val="bg1"/>
                </a:solidFill>
                <a:highlight>
                  <a:srgbClr val="008000"/>
                </a:highlight>
              </a:rPr>
              <a:t>:</a:t>
            </a:r>
            <a:r>
              <a:rPr lang="en-GB" i="1" dirty="0" err="1">
                <a:solidFill>
                  <a:schemeClr val="bg1"/>
                </a:solidFill>
                <a:highlight>
                  <a:srgbClr val="FF0000"/>
                </a:highlight>
              </a:rPr>
              <a:t>parameter_name</a:t>
            </a:r>
            <a:r>
              <a:rPr lang="en-GB" i="1" dirty="0">
                <a:solidFill>
                  <a:schemeClr val="tx1"/>
                </a:solidFill>
              </a:rPr>
              <a:t>[</a:t>
            </a:r>
            <a:r>
              <a:rPr lang="en-GB" i="1" dirty="0">
                <a:solidFill>
                  <a:schemeClr val="bg1"/>
                </a:solidFill>
                <a:highlight>
                  <a:srgbClr val="000080"/>
                </a:highlight>
              </a:rPr>
              <a:t>modifier</a:t>
            </a:r>
            <a:r>
              <a:rPr lang="en-GB" i="1" dirty="0">
                <a:solidFill>
                  <a:schemeClr val="tx1"/>
                </a:solidFill>
              </a:rPr>
              <a:t>][(</a:t>
            </a:r>
            <a:r>
              <a:rPr lang="en-GB" i="1" dirty="0">
                <a:solidFill>
                  <a:schemeClr val="bg1"/>
                </a:solidFill>
                <a:highlight>
                  <a:srgbClr val="808000"/>
                </a:highlight>
              </a:rPr>
              <a:t>regex</a:t>
            </a:r>
            <a:r>
              <a:rPr lang="en-GB" i="1" dirty="0">
                <a:solidFill>
                  <a:schemeClr val="tx1"/>
                </a:solidFill>
              </a:rPr>
              <a:t>)]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p</a:t>
            </a:r>
            <a:r>
              <a:rPr lang="en-GB" dirty="0" err="1">
                <a:solidFill>
                  <a:schemeClr val="bg1"/>
                </a:solidFill>
                <a:highlight>
                  <a:srgbClr val="FF0000"/>
                </a:highlight>
              </a:rPr>
              <a:t>arameter_name</a:t>
            </a:r>
            <a:r>
              <a:rPr lang="en-GB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GB" dirty="0"/>
              <a:t>is the name of the parameter whose value to retrieve when a URL matching the template is resolved on the server. It must be prefixed by a colon </a:t>
            </a:r>
            <a:r>
              <a:rPr lang="en-GB" dirty="0">
                <a:solidFill>
                  <a:schemeClr val="bg1"/>
                </a:solidFill>
              </a:rPr>
              <a:t>(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</a:rPr>
              <a:t>:</a:t>
            </a:r>
            <a:r>
              <a:rPr lang="en-GB" dirty="0">
                <a:solidFill>
                  <a:schemeClr val="bg1"/>
                </a:solidFill>
              </a:rPr>
              <a:t>).</a:t>
            </a:r>
          </a:p>
          <a:p>
            <a:pPr marL="457200" lvl="1" indent="0">
              <a:buNone/>
            </a:pPr>
            <a:r>
              <a:rPr lang="en-GB" b="1" i="1" dirty="0"/>
              <a:t>	user/</a:t>
            </a:r>
            <a:r>
              <a:rPr lang="en-GB" b="1" i="1" dirty="0">
                <a:solidFill>
                  <a:schemeClr val="bg1"/>
                </a:solidFill>
                <a:highlight>
                  <a:srgbClr val="008000"/>
                </a:highlight>
              </a:rPr>
              <a:t>:</a:t>
            </a:r>
            <a:r>
              <a:rPr lang="en-GB" b="1" i="1" dirty="0" err="1">
                <a:solidFill>
                  <a:schemeClr val="bg1"/>
                </a:solidFill>
                <a:highlight>
                  <a:srgbClr val="FF0000"/>
                </a:highlight>
              </a:rPr>
              <a:t>userID</a:t>
            </a:r>
            <a:r>
              <a:rPr lang="en-GB" b="1" i="1" dirty="0">
                <a:solidFill>
                  <a:schemeClr val="bg1"/>
                </a:solidFill>
                <a:highlight>
                  <a:srgbClr val="000080"/>
                </a:highlight>
              </a:rPr>
              <a:t>? </a:t>
            </a:r>
            <a:r>
              <a:rPr lang="en-GB" b="1" i="1" dirty="0">
                <a:solidFill>
                  <a:schemeClr val="bg1"/>
                </a:solidFill>
                <a:highlight>
                  <a:srgbClr val="808000"/>
                </a:highlight>
              </a:rPr>
              <a:t>([0-9]{1-9}*)</a:t>
            </a:r>
            <a:r>
              <a:rPr lang="en-GB" b="1" i="1" dirty="0"/>
              <a:t>/edit</a:t>
            </a:r>
            <a:endParaRPr lang="en-GB" dirty="0">
              <a:solidFill>
                <a:schemeClr val="bg1"/>
              </a:solidFill>
              <a:highlight>
                <a:srgbClr val="000080"/>
              </a:highlight>
            </a:endParaRPr>
          </a:p>
          <a:p>
            <a:pPr marL="457200" lvl="1" indent="0">
              <a:buNone/>
            </a:pPr>
            <a:r>
              <a:rPr lang="en-GB" dirty="0">
                <a:solidFill>
                  <a:schemeClr val="bg1"/>
                </a:solidFill>
                <a:highlight>
                  <a:srgbClr val="000080"/>
                </a:highlight>
              </a:rPr>
              <a:t>modifier</a:t>
            </a:r>
            <a:r>
              <a:rPr lang="en-GB" dirty="0"/>
              <a:t> is optional and may be one of the following:</a:t>
            </a:r>
          </a:p>
          <a:p>
            <a:pPr marL="457200" lvl="1" indent="0">
              <a:buNone/>
            </a:pPr>
            <a:r>
              <a:rPr lang="en-GB" b="1" dirty="0"/>
              <a:t>?</a:t>
            </a:r>
            <a:r>
              <a:rPr lang="en-GB" dirty="0"/>
              <a:t> denotes an optional parameter which might be missing from the URL being resolved; </a:t>
            </a:r>
          </a:p>
          <a:p>
            <a:pPr marL="457200" lvl="1" indent="0">
              <a:buNone/>
            </a:pPr>
            <a:r>
              <a:rPr lang="en-GB" b="1" dirty="0"/>
              <a:t>*</a:t>
            </a:r>
            <a:r>
              <a:rPr lang="en-GB" dirty="0"/>
              <a:t> denotes a wildcard parameter which can be used only as the last segment in the template, resolving all segment values at the end of the URL.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0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D59D-700A-6303-E66C-C3BC50F4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513D-1720-D136-2FE2-D4C37CFA5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@RouteAlias is used to create multiple paths to same view.</a:t>
            </a:r>
          </a:p>
        </p:txBody>
      </p:sp>
    </p:spTree>
    <p:extLst>
      <p:ext uri="{BB962C8B-B14F-4D97-AF65-F5344CB8AC3E}">
        <p14:creationId xmlns:p14="http://schemas.microsoft.com/office/powerpoint/2010/main" val="191431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4F61-E189-FB62-1BA4-57168032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Router Layouts and Nested Router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22C15-5CF4-B549-90A2-1716D01AB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Parent Routes</a:t>
            </a:r>
          </a:p>
          <a:p>
            <a:r>
              <a:rPr lang="en-GB" b="1" dirty="0"/>
              <a:t>Nested Routes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5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AB02-D4FB-5378-AFFF-221107C7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Parent and Nested Routes?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607F-1FB2-0D50-D197-3603C789C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Parent Routes:</a:t>
            </a:r>
          </a:p>
          <a:p>
            <a:r>
              <a:rPr lang="en-GB" dirty="0"/>
              <a:t>These are top-level routes that serve as entry points or main categories in your application.</a:t>
            </a:r>
          </a:p>
          <a:p>
            <a:r>
              <a:rPr lang="en-GB" dirty="0"/>
              <a:t>Typically represent main views or layouts.</a:t>
            </a:r>
          </a:p>
          <a:p>
            <a:r>
              <a:rPr lang="en-GB" dirty="0"/>
              <a:t>Example: A dashboard, or an admin panel.</a:t>
            </a:r>
          </a:p>
          <a:p>
            <a:r>
              <a:rPr lang="en-GB" b="1" dirty="0"/>
              <a:t>Nested Routes:</a:t>
            </a:r>
          </a:p>
          <a:p>
            <a:r>
              <a:rPr lang="en-GB" dirty="0"/>
              <a:t>These are child routes that depend on a parent route and often represent subsections or detailed views within the parent. </a:t>
            </a:r>
          </a:p>
          <a:p>
            <a:r>
              <a:rPr lang="en-GB" dirty="0"/>
              <a:t>Nested routes inherit the layout of their parent, enabling shared components like headers, sidebars, or footers. </a:t>
            </a:r>
          </a:p>
          <a:p>
            <a:r>
              <a:rPr lang="en-GB" dirty="0"/>
              <a:t>Example: A reports page or settings page under a dashboard.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63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6135-21DC-BCF9-798A-C2061465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Why Do We Need Parent and Nested Routes?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5125-8920-7ABD-C5D5-7A75654D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E-commerce Application:</a:t>
            </a:r>
          </a:p>
          <a:p>
            <a:pPr lvl="1"/>
            <a:r>
              <a:rPr lang="en-GB" b="1" dirty="0"/>
              <a:t>Parent route: /products</a:t>
            </a:r>
          </a:p>
          <a:p>
            <a:pPr lvl="1"/>
            <a:r>
              <a:rPr lang="en-GB" b="1" dirty="0"/>
              <a:t>Nested routes: /products/details, /products/reviews</a:t>
            </a:r>
          </a:p>
          <a:p>
            <a:r>
              <a:rPr lang="en-GB" b="1" dirty="0">
                <a:solidFill>
                  <a:srgbClr val="0070C0"/>
                </a:solidFill>
              </a:rPr>
              <a:t>Admin Dashboard:</a:t>
            </a:r>
          </a:p>
          <a:p>
            <a:pPr lvl="1"/>
            <a:r>
              <a:rPr lang="en-GB" b="1" dirty="0"/>
              <a:t>Parent route: /dashboard</a:t>
            </a:r>
          </a:p>
          <a:p>
            <a:pPr lvl="1"/>
            <a:r>
              <a:rPr lang="en-GB" b="1" dirty="0"/>
              <a:t>Nested routes: /dashboard/users, /dashboard/settings</a:t>
            </a:r>
          </a:p>
          <a:p>
            <a:r>
              <a:rPr lang="en-GB" b="1" dirty="0">
                <a:solidFill>
                  <a:srgbClr val="0070C0"/>
                </a:solidFill>
              </a:rPr>
              <a:t>Educational Platform:</a:t>
            </a:r>
          </a:p>
          <a:p>
            <a:pPr lvl="1"/>
            <a:r>
              <a:rPr lang="en-GB" b="1" dirty="0"/>
              <a:t>Parent route: /courses</a:t>
            </a:r>
          </a:p>
          <a:p>
            <a:pPr lvl="1"/>
            <a:r>
              <a:rPr lang="en-GB" b="1" dirty="0"/>
              <a:t>Nested routes: /courses/list, /courses/details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2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6EA8-150D-B6E7-7ABB-66622BEE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Operation on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BFF20-856B-9972-5C77-D57B33F5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Title</a:t>
            </a:r>
          </a:p>
          <a:p>
            <a:r>
              <a:rPr lang="en-US" dirty="0"/>
              <a:t>Registering Routes</a:t>
            </a:r>
          </a:p>
          <a:p>
            <a:pPr lvl="1"/>
            <a:r>
              <a:rPr lang="en-US" dirty="0"/>
              <a:t>Routes Alias</a:t>
            </a:r>
          </a:p>
          <a:p>
            <a:pPr lvl="1"/>
            <a:r>
              <a:rPr lang="en-US" dirty="0"/>
              <a:t>Setting Parent Layout</a:t>
            </a:r>
          </a:p>
          <a:p>
            <a:r>
              <a:rPr lang="en-US" dirty="0"/>
              <a:t>Get Avalible Routes</a:t>
            </a:r>
          </a:p>
          <a:p>
            <a:r>
              <a:rPr lang="en-US" dirty="0"/>
              <a:t>Removing Routes</a:t>
            </a:r>
          </a:p>
        </p:txBody>
      </p:sp>
    </p:spTree>
    <p:extLst>
      <p:ext uri="{BB962C8B-B14F-4D97-AF65-F5344CB8AC3E}">
        <p14:creationId xmlns:p14="http://schemas.microsoft.com/office/powerpoint/2010/main" val="240002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1123</TotalTime>
  <Words>1312</Words>
  <Application>Microsoft Office PowerPoint</Application>
  <PresentationFormat>Widescreen</PresentationFormat>
  <Paragraphs>105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Wingdings 3</vt:lpstr>
      <vt:lpstr>Ion Boardroom</vt:lpstr>
      <vt:lpstr>Navigation (Routing)</vt:lpstr>
      <vt:lpstr>Vaadin Navigation</vt:lpstr>
      <vt:lpstr>Routing and Views</vt:lpstr>
      <vt:lpstr>Navigation</vt:lpstr>
      <vt:lpstr>Server Side Navigation</vt:lpstr>
      <vt:lpstr>Router Links</vt:lpstr>
      <vt:lpstr>Standard Links (Anchor)</vt:lpstr>
      <vt:lpstr>Navigation Life Cycle</vt:lpstr>
      <vt:lpstr>Before Leave Event</vt:lpstr>
      <vt:lpstr>Before Enter Event</vt:lpstr>
      <vt:lpstr>After Navigation Event</vt:lpstr>
      <vt:lpstr>Passing Data</vt:lpstr>
      <vt:lpstr>Route Parameters</vt:lpstr>
      <vt:lpstr>Optional Route Parameters</vt:lpstr>
      <vt:lpstr>Wildcard Route Parameters</vt:lpstr>
      <vt:lpstr>Query Parameters</vt:lpstr>
      <vt:lpstr>When to Use Query Parameters</vt:lpstr>
      <vt:lpstr>Route Templates</vt:lpstr>
      <vt:lpstr>Defining Route Templates</vt:lpstr>
      <vt:lpstr>Route Alias</vt:lpstr>
      <vt:lpstr>Router Layouts and Nested Router targets</vt:lpstr>
      <vt:lpstr>What Are Parent and Nested Routes?</vt:lpstr>
      <vt:lpstr>Why Do We Need Parent and Nested Routes?</vt:lpstr>
      <vt:lpstr>Dynamic Operation on Routes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</dc:creator>
  <cp:lastModifiedBy>Muhammad Faisal</cp:lastModifiedBy>
  <cp:revision>285</cp:revision>
  <dcterms:created xsi:type="dcterms:W3CDTF">2024-05-28T20:40:56Z</dcterms:created>
  <dcterms:modified xsi:type="dcterms:W3CDTF">2024-11-29T20:10:51Z</dcterms:modified>
</cp:coreProperties>
</file>